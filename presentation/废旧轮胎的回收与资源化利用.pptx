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90000" y="3556000"/>
            <a:ext cx="4064000" cy="4064000"/>
          </a:xfrm>
          <a:prstGeom prst="ellipse">
            <a:avLst/>
          </a:prstGeom>
          <a:noFill/>
          <a:ln w="25400">
            <a:solidFill>
              <a:srgbClr val="33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34500" y="4000500"/>
            <a:ext cx="3175000" cy="3175000"/>
          </a:xfrm>
          <a:prstGeom prst="ellipse">
            <a:avLst/>
          </a:prstGeom>
          <a:noFill/>
          <a:ln w="177800">
            <a:solidFill>
              <a:srgbClr val="2A4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D9B8"/>
                </a:solidFill>
                <a:latin typeface="微软雅黑"/>
                <a:ea typeface="微软雅黑"/>
              </a:rPr>
              <a:t>环境工程 · 固体废物资源化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05000"/>
            <a:ext cx="10668000" cy="215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废旧轮胎的回收</a:t>
            </a:r>
          </a:p>
          <a:p>
            <a:pPr algn="l">
              <a:lnSpc>
                <a:spcPct val="105000"/>
              </a:lnSpc>
            </a:pPr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与资源化利用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4572000"/>
            <a:ext cx="4572000" cy="635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826000"/>
            <a:ext cx="10414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DDE4F0"/>
                </a:solidFill>
                <a:latin typeface="微软雅黑"/>
                <a:ea typeface="微软雅黑"/>
              </a:rPr>
              <a:t>Recycling and Resource Utilization of Waste Tires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969000"/>
            <a:ext cx="762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DE4F0"/>
                </a:solidFill>
                <a:latin typeface="微软雅黑"/>
                <a:ea typeface="微软雅黑"/>
              </a:rPr>
              <a:t>汇报人：环境工程专业　|　指导教师：×××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50000"/>
            <a:ext cx="7620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889000"/>
            <a:ext cx="355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1841500"/>
            <a:ext cx="3556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D9B8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0400" y="2349500"/>
            <a:ext cx="1524000" cy="635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07000" y="7620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9500" y="8128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500" y="12446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黑色污染 · 资源属性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9500" y="1600200"/>
            <a:ext cx="546100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7000" y="17272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9500" y="17780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回收体系与管理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22098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回收网络 · 政策法规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500" y="2565400"/>
            <a:ext cx="546100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7000" y="26924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9500" y="27432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资源化利用途径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9500" y="31750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翻新 · 胶粉 · 热解 · 再生胶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9500" y="3530600"/>
            <a:ext cx="546100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07000" y="36576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9500" y="37084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下游应用领域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9500" y="41402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道路 · 场地 · 建材 · 能源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9500" y="4495800"/>
            <a:ext cx="546100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07000" y="46228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9500" y="46736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效益分析与挑战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500" y="51054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环境 · 经济 · 瓶颈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9500" y="5461000"/>
            <a:ext cx="546100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07000" y="5588000"/>
            <a:ext cx="7112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9500" y="5638800"/>
            <a:ext cx="5461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</a:rPr>
              <a:t>发展趋势与结论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9500" y="6070600"/>
            <a:ext cx="5461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技术展望 ·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3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3810000" cy="203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>
                <a:solidFill>
                  <a:srgbClr val="2E52A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540000"/>
            <a:ext cx="63500" cy="1524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8000" y="2603500"/>
            <a:ext cx="7112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研究背景与意义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619500"/>
            <a:ext cx="711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D9B8"/>
                </a:solidFill>
                <a:latin typeface="微软雅黑"/>
                <a:ea typeface="微软雅黑"/>
              </a:rPr>
              <a:t>黑色污染 · 资源属性 · 政策驱动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2192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为什么关注废旧轮胎？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1651000"/>
            <a:ext cx="55245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000" y="1651000"/>
            <a:ext cx="127000" cy="2159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905000"/>
            <a:ext cx="47625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3C8B"/>
                </a:solidFill>
                <a:latin typeface="微软雅黑"/>
                <a:ea typeface="微软雅黑"/>
              </a:rPr>
              <a:t>体量巨大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2565400"/>
            <a:ext cx="482600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我国年产生量已超 2000 万吨，约 3.3 亿条，且以年均 6–8% 速度递增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1651000"/>
            <a:ext cx="55245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0" y="1651000"/>
            <a:ext cx="127000" cy="2159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0" y="1905000"/>
            <a:ext cx="47625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733"/>
                </a:solidFill>
                <a:latin typeface="微软雅黑"/>
                <a:ea typeface="微软雅黑"/>
              </a:rPr>
              <a:t>难以降解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565400"/>
            <a:ext cx="482600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轮胎以橡胶、炭黑、钢丝、纤维复合而成，自然降解需上百年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4191000"/>
            <a:ext cx="55245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000" y="4191000"/>
            <a:ext cx="127000" cy="2159000"/>
          </a:xfrm>
          <a:prstGeom prst="rect">
            <a:avLst/>
          </a:prstGeom>
          <a:solidFill>
            <a:srgbClr val="C8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" y="4445000"/>
            <a:ext cx="47625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8504B"/>
                </a:solidFill>
                <a:latin typeface="微软雅黑"/>
                <a:ea typeface="微软雅黑"/>
              </a:rPr>
              <a:t>污染严重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5105400"/>
            <a:ext cx="482600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露天堆存形成"黑色污染"，火灾、蚊媒、土壤与地下水风险并存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500" y="4191000"/>
            <a:ext cx="55245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67500" y="4191000"/>
            <a:ext cx="127000" cy="2159000"/>
          </a:xfrm>
          <a:prstGeom prst="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0" y="4445000"/>
            <a:ext cx="47625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88050"/>
                </a:solidFill>
                <a:latin typeface="微软雅黑"/>
                <a:ea typeface="微软雅黑"/>
              </a:rPr>
              <a:t>资源富集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5105400"/>
            <a:ext cx="482600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热值高达 32 MJ/kg，富含橡胶烃，是名副其实的'城市矿产'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"黑色污染"——废旧轮胎的环境危害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01</a:t>
            </a:r>
          </a:p>
        </p:txBody>
      </p:sp>
      <p:pic>
        <p:nvPicPr>
          <p:cNvPr id="6" name="Picture 5" descr="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397000"/>
            <a:ext cx="5969000" cy="426962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35000" y="1524000"/>
            <a:ext cx="177800" cy="1778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1447800"/>
            <a:ext cx="4572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8B"/>
                </a:solidFill>
                <a:latin typeface="微软雅黑"/>
                <a:ea typeface="微软雅黑"/>
              </a:rPr>
              <a:t>占用土地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778000"/>
            <a:ext cx="4826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全球每年数十亿条退役，露天堆存如山，侵占大量土地资源</a:t>
            </a:r>
          </a:p>
        </p:txBody>
      </p:sp>
      <p:sp>
        <p:nvSpPr>
          <p:cNvPr id="10" name="Oval 9"/>
          <p:cNvSpPr/>
          <p:nvPr/>
        </p:nvSpPr>
        <p:spPr>
          <a:xfrm>
            <a:off x="635000" y="2489200"/>
            <a:ext cx="177800" cy="1778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" y="2413000"/>
            <a:ext cx="4572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8B"/>
                </a:solidFill>
                <a:latin typeface="微软雅黑"/>
                <a:ea typeface="微软雅黑"/>
              </a:rPr>
              <a:t>火灾隐患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743200"/>
            <a:ext cx="4826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轮胎易燃且燃烧释放 SO₂、多环芳烃等有毒黑烟，火场难以扑灭</a:t>
            </a:r>
          </a:p>
        </p:txBody>
      </p:sp>
      <p:sp>
        <p:nvSpPr>
          <p:cNvPr id="13" name="Oval 12"/>
          <p:cNvSpPr/>
          <p:nvPr/>
        </p:nvSpPr>
        <p:spPr>
          <a:xfrm>
            <a:off x="635000" y="3454400"/>
            <a:ext cx="177800" cy="1778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3378200"/>
            <a:ext cx="4572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8B"/>
                </a:solidFill>
                <a:latin typeface="微软雅黑"/>
                <a:ea typeface="微软雅黑"/>
              </a:rPr>
              <a:t>病媒滋生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708400"/>
            <a:ext cx="4826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堆体积水成为蚊虫繁殖温床，传播登革热等疾病</a:t>
            </a:r>
          </a:p>
        </p:txBody>
      </p:sp>
      <p:sp>
        <p:nvSpPr>
          <p:cNvPr id="16" name="Oval 15"/>
          <p:cNvSpPr/>
          <p:nvPr/>
        </p:nvSpPr>
        <p:spPr>
          <a:xfrm>
            <a:off x="635000" y="4419600"/>
            <a:ext cx="177800" cy="1778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343400"/>
            <a:ext cx="4572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8B"/>
                </a:solidFill>
                <a:latin typeface="微软雅黑"/>
                <a:ea typeface="微软雅黑"/>
              </a:rPr>
              <a:t>土壤水体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4673600"/>
            <a:ext cx="4826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降解析出锌、铅及有机助剂，污染土壤与地下水</a:t>
            </a:r>
          </a:p>
        </p:txBody>
      </p:sp>
      <p:sp>
        <p:nvSpPr>
          <p:cNvPr id="19" name="Oval 18"/>
          <p:cNvSpPr/>
          <p:nvPr/>
        </p:nvSpPr>
        <p:spPr>
          <a:xfrm>
            <a:off x="635000" y="5384800"/>
            <a:ext cx="177800" cy="1778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5308600"/>
            <a:ext cx="4572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8B"/>
                </a:solidFill>
                <a:latin typeface="微软雅黑"/>
                <a:ea typeface="微软雅黑"/>
              </a:rPr>
              <a:t>难以降解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5638800"/>
            <a:ext cx="4826000" cy="63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交联橡胶结构稳定，自然界中数百年难以分解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触目惊心的数字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" y="1397000"/>
            <a:ext cx="2540000" cy="1219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1524000"/>
            <a:ext cx="2540000" cy="635000"/>
          </a:xfrm>
          <a:prstGeom prst="rect">
            <a:avLst/>
          </a:prstGeom>
          <a:noFill/>
        </p:spPr>
        <p:txBody>
          <a:bodyPr wrap="square" anchor="ctr" lIns="76200" rIns="7620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  <a:r>
              <a:rPr sz="1600" b="1">
                <a:solidFill>
                  <a:srgbClr val="FFD9B8"/>
                </a:solidFill>
                <a:latin typeface="微软雅黑"/>
                <a:ea typeface="微软雅黑"/>
              </a:rPr>
              <a:t> 百万吨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184400"/>
            <a:ext cx="2540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DDE4F0"/>
                </a:solidFill>
                <a:latin typeface="微软雅黑"/>
                <a:ea typeface="微软雅黑"/>
              </a:rPr>
              <a:t>我国年产生量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4400" y="1397000"/>
            <a:ext cx="2540000" cy="1219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4400" y="1524000"/>
            <a:ext cx="2540000" cy="635000"/>
          </a:xfrm>
          <a:prstGeom prst="rect">
            <a:avLst/>
          </a:prstGeom>
          <a:noFill/>
        </p:spPr>
        <p:txBody>
          <a:bodyPr wrap="square" anchor="ctr" lIns="76200" rIns="7620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3.3</a:t>
            </a:r>
            <a:r>
              <a:rPr sz="1600" b="1">
                <a:solidFill>
                  <a:srgbClr val="FFD9B8"/>
                </a:solidFill>
                <a:latin typeface="微软雅黑"/>
                <a:ea typeface="微软雅黑"/>
              </a:rPr>
              <a:t> 亿条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4400" y="2184400"/>
            <a:ext cx="2540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DDE4F0"/>
                </a:solidFill>
                <a:latin typeface="微软雅黑"/>
                <a:ea typeface="微软雅黑"/>
              </a:rPr>
              <a:t>退役轮胎数量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3800" y="1397000"/>
            <a:ext cx="2540000" cy="1219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3800" y="1524000"/>
            <a:ext cx="2540000" cy="635000"/>
          </a:xfrm>
          <a:prstGeom prst="rect">
            <a:avLst/>
          </a:prstGeom>
          <a:noFill/>
        </p:spPr>
        <p:txBody>
          <a:bodyPr wrap="square" anchor="ctr" lIns="76200" rIns="7620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64</a:t>
            </a:r>
            <a:r>
              <a:rPr sz="1600" b="1">
                <a:solidFill>
                  <a:srgbClr val="FFD9B8"/>
                </a:solidFill>
                <a:latin typeface="微软雅黑"/>
                <a:ea typeface="微软雅黑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3800" y="2184400"/>
            <a:ext cx="2540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DDE4F0"/>
                </a:solidFill>
                <a:latin typeface="微软雅黑"/>
                <a:ea typeface="微软雅黑"/>
              </a:rPr>
              <a:t>综合利用率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3200" y="1397000"/>
            <a:ext cx="2540000" cy="1219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200" y="1524000"/>
            <a:ext cx="2540000" cy="635000"/>
          </a:xfrm>
          <a:prstGeom prst="rect">
            <a:avLst/>
          </a:prstGeom>
          <a:noFill/>
        </p:spPr>
        <p:txBody>
          <a:bodyPr wrap="square" anchor="ctr" lIns="76200" rIns="7620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32</a:t>
            </a:r>
            <a:r>
              <a:rPr sz="1600" b="1">
                <a:solidFill>
                  <a:srgbClr val="FFD9B8"/>
                </a:solidFill>
                <a:latin typeface="微软雅黑"/>
                <a:ea typeface="微软雅黑"/>
              </a:rPr>
              <a:t> MJ/kg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200" y="2184400"/>
            <a:ext cx="2540000" cy="33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DDE4F0"/>
                </a:solidFill>
                <a:latin typeface="微软雅黑"/>
                <a:ea typeface="微软雅黑"/>
              </a:rPr>
              <a:t>平均热值</a:t>
            </a:r>
          </a:p>
        </p:txBody>
      </p:sp>
      <p:pic>
        <p:nvPicPr>
          <p:cNvPr id="18" name="Picture 17" descr="produc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946400"/>
            <a:ext cx="6032500" cy="339558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921500" y="2984500"/>
            <a:ext cx="4635500" cy="317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1500" y="2984500"/>
            <a:ext cx="4635500" cy="558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1500" y="3111500"/>
            <a:ext cx="46355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关键判读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3600" y="3708400"/>
            <a:ext cx="406400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· 产生量持续刚性增长，2024 年突破 2000 万吨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· 综合利用率稳步提升至 64%，但仍显著低于欧盟、日本（&gt;90%）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· 提升空间巨大，资源化是必由之路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3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3810000" cy="203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>
                <a:solidFill>
                  <a:srgbClr val="2E52A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540000"/>
            <a:ext cx="63500" cy="1524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8000" y="2603500"/>
            <a:ext cx="7112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回收体系与管理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619500"/>
            <a:ext cx="711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D9B8"/>
                </a:solidFill>
                <a:latin typeface="微软雅黑"/>
                <a:ea typeface="微软雅黑"/>
              </a:rPr>
              <a:t>政策法规 · 回收网络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政策驱动与产业发展历程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000" y="1524000"/>
            <a:ext cx="50800" cy="444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2000" y="1549400"/>
            <a:ext cx="304800" cy="304800"/>
          </a:xfrm>
          <a:prstGeom prst="ellipse">
            <a:avLst/>
          </a:prstGeom>
          <a:solidFill>
            <a:srgbClr val="E677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0000" y="1473200"/>
            <a:ext cx="114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2011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0" y="1498600"/>
            <a:ext cx="482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《废轮胎综合利用行业准入条件》发布，行业规范化起步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2438400"/>
            <a:ext cx="304800" cy="304800"/>
          </a:xfrm>
          <a:prstGeom prst="ellipse">
            <a:avLst/>
          </a:prstGeom>
          <a:solidFill>
            <a:srgbClr val="E677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70000" y="2362200"/>
            <a:ext cx="114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0" y="2387600"/>
            <a:ext cx="482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工信部推行生产者责任延伸（EPR）制度试点</a:t>
            </a:r>
          </a:p>
        </p:txBody>
      </p:sp>
      <p:sp>
        <p:nvSpPr>
          <p:cNvPr id="13" name="Oval 12"/>
          <p:cNvSpPr/>
          <p:nvPr/>
        </p:nvSpPr>
        <p:spPr>
          <a:xfrm>
            <a:off x="762000" y="3327400"/>
            <a:ext cx="304800" cy="304800"/>
          </a:xfrm>
          <a:prstGeom prst="ellipse">
            <a:avLst/>
          </a:prstGeom>
          <a:solidFill>
            <a:srgbClr val="E677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0000" y="3251200"/>
            <a:ext cx="114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000" y="3276600"/>
            <a:ext cx="482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《固体废物污染环境防治法》修订，强化全过程管理</a:t>
            </a:r>
          </a:p>
        </p:txBody>
      </p:sp>
      <p:sp>
        <p:nvSpPr>
          <p:cNvPr id="16" name="Oval 15"/>
          <p:cNvSpPr/>
          <p:nvPr/>
        </p:nvSpPr>
        <p:spPr>
          <a:xfrm>
            <a:off x="762000" y="4216400"/>
            <a:ext cx="304800" cy="304800"/>
          </a:xfrm>
          <a:prstGeom prst="ellipse">
            <a:avLst/>
          </a:prstGeom>
          <a:solidFill>
            <a:srgbClr val="E677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70000" y="4140200"/>
            <a:ext cx="114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0000" y="4165600"/>
            <a:ext cx="482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"无废城市"建设深入推进，胶粉改性沥青纳入推广</a:t>
            </a:r>
          </a:p>
        </p:txBody>
      </p:sp>
      <p:sp>
        <p:nvSpPr>
          <p:cNvPr id="19" name="Oval 18"/>
          <p:cNvSpPr/>
          <p:nvPr/>
        </p:nvSpPr>
        <p:spPr>
          <a:xfrm>
            <a:off x="762000" y="5105400"/>
            <a:ext cx="304800" cy="304800"/>
          </a:xfrm>
          <a:prstGeom prst="ellipse">
            <a:avLst/>
          </a:prstGeom>
          <a:solidFill>
            <a:srgbClr val="E677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70000" y="5029200"/>
            <a:ext cx="114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0000" y="5054600"/>
            <a:ext cx="4826000" cy="76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双碳目标驱动，循环经济与资源化利用上升为国家战略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4000" y="1524000"/>
            <a:ext cx="3810000" cy="444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74000" y="1524000"/>
            <a:ext cx="3810000" cy="5842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4000" y="1651000"/>
            <a:ext cx="381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政策内核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400" y="2311400"/>
            <a:ext cx="3276600" cy="355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EPR  生产者责任延伸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谁生产、谁回收、谁负责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减量化 · 资源化 · 无害化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固废处理三大原则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双碳 + 无废城市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循环经济政策双轮驱动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从'被动处置'转向'主动循环'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废旧轮胎回收体系流程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778000"/>
            <a:ext cx="1651000" cy="6350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产生源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汽修厂 · 4S店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物流车队 · 个人</a:t>
            </a:r>
          </a:p>
        </p:txBody>
      </p:sp>
      <p:sp>
        <p:nvSpPr>
          <p:cNvPr id="9" name="Chevron 8"/>
          <p:cNvSpPr/>
          <p:nvPr/>
        </p:nvSpPr>
        <p:spPr>
          <a:xfrm>
            <a:off x="2247900" y="2006600"/>
            <a:ext cx="203200" cy="203200"/>
          </a:xfrm>
          <a:prstGeom prst="chevron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76500" y="1778000"/>
            <a:ext cx="1651000" cy="6350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回收网点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6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区域回收站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规范化收集</a:t>
            </a:r>
          </a:p>
        </p:txBody>
      </p:sp>
      <p:sp>
        <p:nvSpPr>
          <p:cNvPr id="13" name="Chevron 12"/>
          <p:cNvSpPr/>
          <p:nvPr/>
        </p:nvSpPr>
        <p:spPr>
          <a:xfrm>
            <a:off x="4152900" y="2006600"/>
            <a:ext cx="203200" cy="203200"/>
          </a:xfrm>
          <a:prstGeom prst="chevron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1500" y="1778000"/>
            <a:ext cx="1651000" cy="635000"/>
          </a:xfrm>
          <a:prstGeom prst="round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分拣分类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1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1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按规格/损伤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分级分流</a:t>
            </a:r>
          </a:p>
        </p:txBody>
      </p:sp>
      <p:sp>
        <p:nvSpPr>
          <p:cNvPr id="17" name="Chevron 16"/>
          <p:cNvSpPr/>
          <p:nvPr/>
        </p:nvSpPr>
        <p:spPr>
          <a:xfrm>
            <a:off x="6057900" y="2006600"/>
            <a:ext cx="203200" cy="203200"/>
          </a:xfrm>
          <a:prstGeom prst="chevron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6500" y="1778000"/>
            <a:ext cx="1651000" cy="6350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预处理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6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去钢丝/纤维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破碎清洗</a:t>
            </a:r>
          </a:p>
        </p:txBody>
      </p:sp>
      <p:sp>
        <p:nvSpPr>
          <p:cNvPr id="21" name="Chevron 20"/>
          <p:cNvSpPr/>
          <p:nvPr/>
        </p:nvSpPr>
        <p:spPr>
          <a:xfrm>
            <a:off x="7962900" y="2006600"/>
            <a:ext cx="203200" cy="203200"/>
          </a:xfrm>
          <a:prstGeom prst="chevron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1500" y="1778000"/>
            <a:ext cx="1651000" cy="6350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资源化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1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翻新/胶粉/热解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再生利用</a:t>
            </a:r>
          </a:p>
        </p:txBody>
      </p:sp>
      <p:sp>
        <p:nvSpPr>
          <p:cNvPr id="25" name="Chevron 24"/>
          <p:cNvSpPr/>
          <p:nvPr/>
        </p:nvSpPr>
        <p:spPr>
          <a:xfrm>
            <a:off x="9867900" y="2006600"/>
            <a:ext cx="203200" cy="203200"/>
          </a:xfrm>
          <a:prstGeom prst="chevron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6500" y="1778000"/>
            <a:ext cx="1651000" cy="6350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产品市场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96500" y="2540000"/>
            <a:ext cx="1651000" cy="1905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6500" y="2794000"/>
            <a:ext cx="1651000" cy="1524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改性沥青/制品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再生材料销售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953000"/>
            <a:ext cx="11049000" cy="1143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000" y="5130800"/>
            <a:ext cx="10414000" cy="889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关键瓶颈：回收网络分散、'小散乱'非正规处置占比高、可追溯体系不完善。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对策：依托 EPR 构建'互联网+回收'平台，推动规范化、规模化、可追溯的逆向物流。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3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3810000" cy="203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>
                <a:solidFill>
                  <a:srgbClr val="2E52A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540000"/>
            <a:ext cx="63500" cy="1524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8000" y="2603500"/>
            <a:ext cx="7112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资源化利用途径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619500"/>
            <a:ext cx="711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D9B8"/>
                </a:solidFill>
                <a:latin typeface="微软雅黑"/>
                <a:ea typeface="微软雅黑"/>
              </a:rPr>
              <a:t>翻新 · 胶粉 · 热解 · 再生胶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资源化利用的四大途径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05</a:t>
            </a:r>
          </a:p>
        </p:txBody>
      </p:sp>
      <p:pic>
        <p:nvPicPr>
          <p:cNvPr id="6" name="Picture 5" descr="rout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333500"/>
            <a:ext cx="4826000" cy="35442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5000" y="1460500"/>
            <a:ext cx="6096000" cy="1092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1460500"/>
            <a:ext cx="127000" cy="1092200"/>
          </a:xfrm>
          <a:prstGeom prst="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587500"/>
            <a:ext cx="381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88050"/>
                </a:solidFill>
                <a:latin typeface="微软雅黑"/>
                <a:ea typeface="微软雅黑"/>
              </a:rPr>
              <a:t>① 轮胎翻新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12900"/>
            <a:ext cx="2006600" cy="330200"/>
          </a:xfrm>
          <a:prstGeom prst="round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最高层级·能耗最低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" y="2019300"/>
            <a:ext cx="5715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在胎体上重贴胎面，恢复使用功能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05100"/>
            <a:ext cx="6096000" cy="1092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2705100"/>
            <a:ext cx="127000" cy="10922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2832100"/>
            <a:ext cx="381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A3C8B"/>
                </a:solidFill>
                <a:latin typeface="微软雅黑"/>
                <a:ea typeface="微软雅黑"/>
              </a:rPr>
              <a:t>② 胶粉/改性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857500"/>
            <a:ext cx="2006600" cy="330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规模最大·应用最广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3263900"/>
            <a:ext cx="5715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常温/低温粉碎制胶粉，改性沥青、橡胶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49700"/>
            <a:ext cx="6096000" cy="1092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49700"/>
            <a:ext cx="127000" cy="10922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800" y="4076700"/>
            <a:ext cx="381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67733"/>
                </a:solidFill>
                <a:latin typeface="微软雅黑"/>
                <a:ea typeface="微软雅黑"/>
              </a:rPr>
              <a:t>③ 热裂解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02100"/>
            <a:ext cx="2006600" cy="3302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彻底资源化·高值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4508500"/>
            <a:ext cx="5715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无氧高温分解为油、炭黑、钢丝、气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194300"/>
            <a:ext cx="6096000" cy="1092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5194300"/>
            <a:ext cx="127000" cy="10922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800" y="5321300"/>
            <a:ext cx="3810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9B59B6"/>
                </a:solidFill>
                <a:latin typeface="微软雅黑"/>
                <a:ea typeface="微软雅黑"/>
              </a:rPr>
              <a:t>④ 再生胶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346700"/>
            <a:ext cx="2006600" cy="3302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传统工艺·量大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00" y="5753100"/>
            <a:ext cx="5715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脱硫再生使橡胶恢复塑性可再加工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0" y="5969000"/>
            <a:ext cx="4826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「减量化→资源化」优先序：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</a:rPr>
              <a:t>翻新 &gt; 胶粉 &gt; 热解 &gt; 焚烧填埋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途径一：轮胎翻新（Retreading）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0" y="457200"/>
            <a:ext cx="1905000" cy="406400"/>
          </a:xfrm>
          <a:prstGeom prst="round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资源化最高层级</a:t>
            </a:r>
          </a:p>
        </p:txBody>
      </p:sp>
      <p:sp>
        <p:nvSpPr>
          <p:cNvPr id="7" name="Oval 6"/>
          <p:cNvSpPr/>
          <p:nvPr/>
        </p:nvSpPr>
        <p:spPr>
          <a:xfrm>
            <a:off x="635000" y="1574800"/>
            <a:ext cx="152400" cy="152400"/>
          </a:xfrm>
          <a:prstGeom prst="ellipse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14732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8288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检测合格胎体，打磨后重贴新胎面，硫化复原使用功能</a:t>
            </a:r>
          </a:p>
        </p:txBody>
      </p:sp>
      <p:sp>
        <p:nvSpPr>
          <p:cNvPr id="10" name="Oval 9"/>
          <p:cNvSpPr/>
          <p:nvPr/>
        </p:nvSpPr>
        <p:spPr>
          <a:xfrm>
            <a:off x="635000" y="2641600"/>
            <a:ext cx="152400" cy="152400"/>
          </a:xfrm>
          <a:prstGeom prst="ellipse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25400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8956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能耗与排放最低，1 条翻新胎≈节约 70% 原材料与能源</a:t>
            </a:r>
          </a:p>
        </p:txBody>
      </p:sp>
      <p:sp>
        <p:nvSpPr>
          <p:cNvPr id="13" name="Oval 12"/>
          <p:cNvSpPr/>
          <p:nvPr/>
        </p:nvSpPr>
        <p:spPr>
          <a:xfrm>
            <a:off x="635000" y="3708400"/>
            <a:ext cx="152400" cy="152400"/>
          </a:xfrm>
          <a:prstGeom prst="ellipse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6068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9624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仅适用胎体完好的载重/工程胎，乘用胎翻新比例低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892800"/>
            <a:ext cx="5461000" cy="50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892800"/>
            <a:ext cx="101600" cy="508000"/>
          </a:xfrm>
          <a:prstGeom prst="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000" y="5892800"/>
            <a:ext cx="5207000" cy="50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A3C8B"/>
                </a:solidFill>
                <a:latin typeface="微软雅黑"/>
                <a:ea typeface="微软雅黑"/>
              </a:rPr>
              <a:t>环境友好度最高，应作为优先选项；我国翻新率仍远低于发达国家。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途径二：胶粉与橡胶改性沥青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0" y="457200"/>
            <a:ext cx="1905000" cy="4064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应用规模最大</a:t>
            </a:r>
          </a:p>
        </p:txBody>
      </p:sp>
      <p:sp>
        <p:nvSpPr>
          <p:cNvPr id="7" name="Oval 6"/>
          <p:cNvSpPr/>
          <p:nvPr/>
        </p:nvSpPr>
        <p:spPr>
          <a:xfrm>
            <a:off x="635000" y="1574800"/>
            <a:ext cx="152400" cy="152400"/>
          </a:xfrm>
          <a:prstGeom prst="ellipse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14732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制备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8288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常温/低温（冷冻）粉碎，去除钢丝纤维制成 20–200 目胶粉</a:t>
            </a:r>
          </a:p>
        </p:txBody>
      </p:sp>
      <p:sp>
        <p:nvSpPr>
          <p:cNvPr id="10" name="Oval 9"/>
          <p:cNvSpPr/>
          <p:nvPr/>
        </p:nvSpPr>
        <p:spPr>
          <a:xfrm>
            <a:off x="635000" y="2641600"/>
            <a:ext cx="152400" cy="152400"/>
          </a:xfrm>
          <a:prstGeom prst="ellipse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25400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改性沥青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8956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胶粉掺入沥青形成弹性网络，提升高低温性能与抗车辙</a:t>
            </a:r>
          </a:p>
        </p:txBody>
      </p:sp>
      <p:sp>
        <p:nvSpPr>
          <p:cNvPr id="13" name="Oval 12"/>
          <p:cNvSpPr/>
          <p:nvPr/>
        </p:nvSpPr>
        <p:spPr>
          <a:xfrm>
            <a:off x="635000" y="3708400"/>
            <a:ext cx="152400" cy="152400"/>
          </a:xfrm>
          <a:prstGeom prst="ellipse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6068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效益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9624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路面更耐久、降噪 3–5 dB，大量消纳废胎，技术成熟</a:t>
            </a:r>
          </a:p>
        </p:txBody>
      </p:sp>
      <p:pic>
        <p:nvPicPr>
          <p:cNvPr id="16" name="Picture 15" descr="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422400"/>
            <a:ext cx="5461000" cy="3005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4605659"/>
            <a:ext cx="5461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胶粉再生材料下游应用占比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892800"/>
            <a:ext cx="5461000" cy="50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892800"/>
            <a:ext cx="101600" cy="50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5892800"/>
            <a:ext cx="5207000" cy="50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A3C8B"/>
                </a:solidFill>
                <a:latin typeface="微软雅黑"/>
                <a:ea typeface="微软雅黑"/>
              </a:rPr>
              <a:t>是当前消纳量最大、最具推广价值的资源化方向。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途径三：热裂解（Pyrolysis）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0" y="457200"/>
            <a:ext cx="1905000" cy="4064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彻底资源化·高值</a:t>
            </a:r>
          </a:p>
        </p:txBody>
      </p:sp>
      <p:sp>
        <p:nvSpPr>
          <p:cNvPr id="7" name="Oval 6"/>
          <p:cNvSpPr/>
          <p:nvPr/>
        </p:nvSpPr>
        <p:spPr>
          <a:xfrm>
            <a:off x="635000" y="1574800"/>
            <a:ext cx="152400" cy="1524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14732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工艺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8288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破碎后于无氧/缺氧反应釜中 400–600℃ 热裂解</a:t>
            </a:r>
          </a:p>
        </p:txBody>
      </p:sp>
      <p:sp>
        <p:nvSpPr>
          <p:cNvPr id="10" name="Oval 9"/>
          <p:cNvSpPr/>
          <p:nvPr/>
        </p:nvSpPr>
        <p:spPr>
          <a:xfrm>
            <a:off x="635000" y="2641600"/>
            <a:ext cx="152400" cy="1524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25400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8956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热解油≈45%、炭黑≈33%、钢丝≈12%、可燃气≈10%</a:t>
            </a:r>
          </a:p>
        </p:txBody>
      </p:sp>
      <p:sp>
        <p:nvSpPr>
          <p:cNvPr id="13" name="Oval 12"/>
          <p:cNvSpPr/>
          <p:nvPr/>
        </p:nvSpPr>
        <p:spPr>
          <a:xfrm>
            <a:off x="635000" y="3708400"/>
            <a:ext cx="152400" cy="1524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6068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关键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9624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需控制二次污染，连续化、清洁化是产业升级方向</a:t>
            </a:r>
          </a:p>
        </p:txBody>
      </p:sp>
      <p:pic>
        <p:nvPicPr>
          <p:cNvPr id="16" name="Picture 15" descr="pyrolysi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422400"/>
            <a:ext cx="5461000" cy="20185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3618745"/>
            <a:ext cx="5461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废旧轮胎热裂解工艺流程与产物分布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892800"/>
            <a:ext cx="5461000" cy="50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892800"/>
            <a:ext cx="101600" cy="508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5892800"/>
            <a:ext cx="5207000" cy="50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A3C8B"/>
                </a:solidFill>
                <a:latin typeface="微软雅黑"/>
                <a:ea typeface="微软雅黑"/>
              </a:rPr>
              <a:t>可实现近零废弃的彻底资源化，是高值化利用的重要前沿。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途径四：再生橡胶（Reclaimed Rubber）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0" y="457200"/>
            <a:ext cx="1905000" cy="4064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传统工艺·量大</a:t>
            </a:r>
          </a:p>
        </p:txBody>
      </p:sp>
      <p:sp>
        <p:nvSpPr>
          <p:cNvPr id="7" name="Oval 6"/>
          <p:cNvSpPr/>
          <p:nvPr/>
        </p:nvSpPr>
        <p:spPr>
          <a:xfrm>
            <a:off x="635000" y="1574800"/>
            <a:ext cx="152400" cy="1524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14732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8288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通过热—氧—机械或脱硫剂作用，使硫化橡胶部分脱硫恢复塑性</a:t>
            </a:r>
          </a:p>
        </p:txBody>
      </p:sp>
      <p:sp>
        <p:nvSpPr>
          <p:cNvPr id="10" name="Oval 9"/>
          <p:cNvSpPr/>
          <p:nvPr/>
        </p:nvSpPr>
        <p:spPr>
          <a:xfrm>
            <a:off x="635000" y="2641600"/>
            <a:ext cx="152400" cy="1524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25400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8956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再生胶可部分替代生胶，用于轮胎、胶管、胶鞋等制品</a:t>
            </a:r>
          </a:p>
        </p:txBody>
      </p:sp>
      <p:sp>
        <p:nvSpPr>
          <p:cNvPr id="13" name="Oval 12"/>
          <p:cNvSpPr/>
          <p:nvPr/>
        </p:nvSpPr>
        <p:spPr>
          <a:xfrm>
            <a:off x="635000" y="3708400"/>
            <a:ext cx="152400" cy="1524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606800"/>
            <a:ext cx="4826000" cy="355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8B"/>
                </a:solidFill>
                <a:latin typeface="微软雅黑"/>
                <a:ea typeface="微软雅黑"/>
              </a:rPr>
              <a:t>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962400"/>
            <a:ext cx="5080000" cy="711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222222"/>
                </a:solidFill>
                <a:latin typeface="微软雅黑"/>
                <a:ea typeface="微软雅黑"/>
              </a:rPr>
              <a:t>传统动态脱硫能耗高、有异味，需向绿色脱硫升级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892800"/>
            <a:ext cx="5461000" cy="50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892800"/>
            <a:ext cx="101600" cy="508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000" y="5892800"/>
            <a:ext cx="5207000" cy="50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A3C8B"/>
                </a:solidFill>
                <a:latin typeface="微软雅黑"/>
                <a:ea typeface="微软雅黑"/>
              </a:rPr>
              <a:t>工艺成熟、消纳量大，绿色化、连续化脱硫是技术改进重点。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3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3810000" cy="203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>
                <a:solidFill>
                  <a:srgbClr val="2E52A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540000"/>
            <a:ext cx="63500" cy="1524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8000" y="2603500"/>
            <a:ext cx="7112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应用领域与对比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619500"/>
            <a:ext cx="711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D9B8"/>
                </a:solidFill>
                <a:latin typeface="微软雅黑"/>
                <a:ea typeface="微软雅黑"/>
              </a:rPr>
              <a:t>道路 · 场地 · 建材 · 能源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再生材料的下游应用领域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10</a:t>
            </a:r>
          </a:p>
        </p:txBody>
      </p:sp>
      <p:pic>
        <p:nvPicPr>
          <p:cNvPr id="6" name="Picture 5" descr="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460500"/>
            <a:ext cx="5334000" cy="29355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5000" y="1524000"/>
            <a:ext cx="5461000" cy="990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7400" y="1701800"/>
            <a:ext cx="635000" cy="635000"/>
          </a:xfrm>
          <a:prstGeom prst="ellipse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51000"/>
            <a:ext cx="4445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橡胶改性沥青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57400"/>
            <a:ext cx="4445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掺入胶粉改善沥青高低温性能，路面更耐久、降噪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990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400" y="2844800"/>
            <a:ext cx="635000" cy="635000"/>
          </a:xfrm>
          <a:prstGeom prst="ellipse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94000"/>
            <a:ext cx="4445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88050"/>
                </a:solidFill>
                <a:latin typeface="微软雅黑"/>
                <a:ea typeface="微软雅黑"/>
              </a:rPr>
              <a:t>塑胶运动场地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00400"/>
            <a:ext cx="4445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胶粒铺设跑道、球场，弹性好、环保（需控 VOC）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810000"/>
            <a:ext cx="5461000" cy="990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7400" y="3987800"/>
            <a:ext cx="635000" cy="635000"/>
          </a:xfrm>
          <a:prstGeom prst="ellipse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37000"/>
            <a:ext cx="4445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67733"/>
                </a:solidFill>
                <a:latin typeface="微软雅黑"/>
                <a:ea typeface="微软雅黑"/>
              </a:rPr>
              <a:t>再生橡胶制品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43400"/>
            <a:ext cx="4445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胶板、密封件、防水卷材、橡胶地砖等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953000"/>
            <a:ext cx="5461000" cy="990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7400" y="5130800"/>
            <a:ext cx="635000" cy="6350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80000"/>
            <a:ext cx="4445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9B59B6"/>
                </a:solidFill>
                <a:latin typeface="微软雅黑"/>
                <a:ea typeface="微软雅黑"/>
              </a:rPr>
              <a:t>建筑工程材料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86400"/>
            <a:ext cx="4445000" cy="40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橡胶混凝土、隔震垫、轻质填料、护坡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四类技术路线综合对比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" y="1460500"/>
            <a:ext cx="1397000" cy="63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2000" y="1460500"/>
            <a:ext cx="990600" cy="63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资源化程度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600" y="1460500"/>
            <a:ext cx="990600" cy="63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经济性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4013200" y="1460500"/>
            <a:ext cx="990600" cy="63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环境友好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3800" y="1460500"/>
            <a:ext cx="990600" cy="635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成熟度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3C8B"/>
                </a:solidFill>
                <a:latin typeface="微软雅黑"/>
                <a:ea typeface="微软雅黑"/>
              </a:rPr>
              <a:t>轮胎翻新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2000" y="209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2600" y="209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3200" y="209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3800" y="209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730500"/>
            <a:ext cx="1397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3C8B"/>
                </a:solidFill>
                <a:latin typeface="微软雅黑"/>
                <a:ea typeface="微软雅黑"/>
              </a:rPr>
              <a:t>胶粉改性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2000" y="273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22600" y="273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13200" y="273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3800" y="273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成熟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65500"/>
            <a:ext cx="13970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3C8B"/>
                </a:solidFill>
                <a:latin typeface="微软雅黑"/>
                <a:ea typeface="微软雅黑"/>
              </a:rPr>
              <a:t>热裂解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2000" y="336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很高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22600" y="336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13200" y="336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3800" y="3365500"/>
            <a:ext cx="990600" cy="635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推广中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00500"/>
            <a:ext cx="1397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3C8B"/>
                </a:solidFill>
                <a:latin typeface="微软雅黑"/>
                <a:ea typeface="微软雅黑"/>
              </a:rPr>
              <a:t>再生胶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2000" y="400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22600" y="400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13200" y="400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3800" y="4000500"/>
            <a:ext cx="990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成熟</a:t>
            </a:r>
          </a:p>
        </p:txBody>
      </p:sp>
      <p:pic>
        <p:nvPicPr>
          <p:cNvPr id="31" name="Picture 30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270000"/>
            <a:ext cx="5207000" cy="41524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000" y="5397500"/>
            <a:ext cx="5461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1A3C8B"/>
                </a:solidFill>
                <a:latin typeface="微软雅黑"/>
                <a:ea typeface="微软雅黑"/>
              </a:rPr>
              <a:t>结论：不存在单一最优技术。应按轮胎状况构建'梯级利用'体系——</a:t>
            </a:r>
          </a:p>
          <a:p>
            <a:pPr algn="l">
              <a:lnSpc>
                <a:spcPct val="130000"/>
              </a:lnSpc>
            </a:pPr>
            <a:r>
              <a:rPr sz="1450" b="1">
                <a:solidFill>
                  <a:srgbClr val="1A3C8B"/>
                </a:solidFill>
                <a:latin typeface="微软雅黑"/>
                <a:ea typeface="微软雅黑"/>
              </a:rPr>
              <a:t>可翻新者优先翻新，其余制胶粉/再生胶高值利用，复杂废胎进入热解彻底回收。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3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3810000" cy="203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>
                <a:solidFill>
                  <a:srgbClr val="2E52A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2540000"/>
            <a:ext cx="63500" cy="15240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8000" y="2603500"/>
            <a:ext cx="7112000" cy="88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效益、挑战与展望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619500"/>
            <a:ext cx="711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D9B8"/>
                </a:solidFill>
                <a:latin typeface="微软雅黑"/>
                <a:ea typeface="微软雅黑"/>
              </a:rPr>
              <a:t>环境 · 经济 · 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环境效益与经济效益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12</a:t>
            </a:r>
          </a:p>
        </p:txBody>
      </p:sp>
      <p:pic>
        <p:nvPicPr>
          <p:cNvPr id="6" name="Picture 5" descr="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422400"/>
            <a:ext cx="3937000" cy="2226246"/>
          </a:xfrm>
          <a:prstGeom prst="rect">
            <a:avLst/>
          </a:prstGeom>
        </p:spPr>
      </p:pic>
      <p:pic>
        <p:nvPicPr>
          <p:cNvPr id="7" name="Picture 6" descr="country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839146"/>
            <a:ext cx="3937000" cy="2371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42000" y="1397000"/>
            <a:ext cx="4699000" cy="1549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42000" y="1397000"/>
            <a:ext cx="127000" cy="1549400"/>
          </a:xfrm>
          <a:prstGeom prst="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4900" y="1549400"/>
            <a:ext cx="42545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88050"/>
                </a:solidFill>
                <a:latin typeface="微软雅黑"/>
                <a:ea typeface="微软雅黑"/>
              </a:rPr>
              <a:t>环境效益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4900" y="1981200"/>
            <a:ext cx="42545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每利用 1 吨废胎≈节约 0.7 吨石油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减少 CO₂ 排放，缓解黑色污染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替代天然/合成橡胶，降低开采压力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0" y="3098800"/>
            <a:ext cx="4699000" cy="1549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0" y="3098800"/>
            <a:ext cx="127000" cy="15494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4900" y="3251200"/>
            <a:ext cx="42545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3C8B"/>
                </a:solidFill>
                <a:latin typeface="微软雅黑"/>
                <a:ea typeface="微软雅黑"/>
              </a:rPr>
              <a:t>经济效益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4900" y="3683000"/>
            <a:ext cx="42545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形成胶粉—沥青—制品产业链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热解油、炭黑、钢丝均可变现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带动就业与区域循环经济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0" y="4800600"/>
            <a:ext cx="4699000" cy="1549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42000" y="4800600"/>
            <a:ext cx="127000" cy="15494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4900" y="4953000"/>
            <a:ext cx="42545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67733"/>
                </a:solidFill>
                <a:latin typeface="微软雅黑"/>
                <a:ea typeface="微软雅黑"/>
              </a:rPr>
              <a:t>社会效益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4900" y="5384800"/>
            <a:ext cx="42545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助力'无废城市'与双碳目标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提升固废规范化管理水平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</a:rPr>
              <a:t>· 城市矿产战略资源保障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现存挑战与应对策略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" y="1422400"/>
            <a:ext cx="5461000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000" y="1422400"/>
            <a:ext cx="5461000" cy="4826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⚠ 回收体系不健全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32000"/>
            <a:ext cx="5054600" cy="55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非正规'土法炼油'屡禁不止，污染严重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2667000"/>
            <a:ext cx="5054600" cy="101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768600"/>
            <a:ext cx="5054600" cy="7620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88050"/>
                </a:solidFill>
                <a:latin typeface="微软雅黑"/>
                <a:ea typeface="微软雅黑"/>
              </a:rPr>
              <a:t>对策　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健全 EPR + 数字化回收平台，强化监管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1000" y="1422400"/>
            <a:ext cx="5461000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31000" y="1422400"/>
            <a:ext cx="5461000" cy="4826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⚠ 技术装备待升级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0" y="2032000"/>
            <a:ext cx="5054600" cy="55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部分工艺能耗高、二次污染风险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4200" y="2667000"/>
            <a:ext cx="5054600" cy="101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4200" y="2768600"/>
            <a:ext cx="5054600" cy="7620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88050"/>
                </a:solidFill>
                <a:latin typeface="微软雅黑"/>
                <a:ea typeface="微软雅黑"/>
              </a:rPr>
              <a:t>对策　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推广清洁热解、连续化智能化装备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87800"/>
            <a:ext cx="5461000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87800"/>
            <a:ext cx="5461000" cy="4826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⚠ 产品标准与市场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597400"/>
            <a:ext cx="5054600" cy="55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再生产品标准不统一、认可度偏低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5232400"/>
            <a:ext cx="5054600" cy="101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5334000"/>
            <a:ext cx="5054600" cy="7620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88050"/>
                </a:solidFill>
                <a:latin typeface="微软雅黑"/>
                <a:ea typeface="微软雅黑"/>
              </a:rPr>
              <a:t>对策　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完善标准体系，政府绿色采购引导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1000" y="3987800"/>
            <a:ext cx="5461000" cy="226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1000" y="3987800"/>
            <a:ext cx="5461000" cy="4826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⚠ 经济性与补贴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597400"/>
            <a:ext cx="5054600" cy="55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部分路线盈利薄、依赖政策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4200" y="5232400"/>
            <a:ext cx="5054600" cy="101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4200" y="5334000"/>
            <a:ext cx="5054600" cy="7620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88050"/>
                </a:solidFill>
                <a:latin typeface="微软雅黑"/>
                <a:ea typeface="微软雅黑"/>
              </a:rPr>
              <a:t>对策　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</a:rPr>
              <a:t>税收优惠 + 碳交易 + 高值化产品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发展趋势与未来展望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51000"/>
            <a:ext cx="20066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高值化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489200"/>
            <a:ext cx="20066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717800"/>
            <a:ext cx="2006600" cy="190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从燃料/填充向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高端再生材料、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精细化学品升级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1651000"/>
            <a:ext cx="2006600" cy="711200"/>
          </a:xfrm>
          <a:prstGeom prst="roundRect">
            <a:avLst/>
          </a:prstGeom>
          <a:solidFill>
            <a:srgbClr val="188050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清洁化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2489200"/>
            <a:ext cx="20066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9400" y="2717800"/>
            <a:ext cx="2006600" cy="190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连续热解、绿色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脱硫，降低能耗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与二次污染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51000"/>
            <a:ext cx="2006600" cy="7112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智能化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489200"/>
            <a:ext cx="20066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717800"/>
            <a:ext cx="2006600" cy="190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数字化回收平台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+ AI 分拣，构建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可追溯逆向物流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0" y="1651000"/>
            <a:ext cx="2006600" cy="7112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低碳化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9000" y="2489200"/>
            <a:ext cx="20066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0" y="2717800"/>
            <a:ext cx="2006600" cy="190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纳入碳核算与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碳交易，服务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双碳战略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8800" y="1651000"/>
            <a:ext cx="2006600" cy="7112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  <a:effectLst>
            <a:outerShdw blurRad="40000" dist="20000" dir="5400000" rotWithShape="0">
              <a:srgbClr val="9AA5B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循环化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0" y="2489200"/>
            <a:ext cx="2006600" cy="2159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8800" y="2717800"/>
            <a:ext cx="2006600" cy="1905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全生命周期设计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绿色轮胎，闭环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</a:rPr>
              <a:t>材料循环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080000"/>
            <a:ext cx="10998200" cy="12192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000" y="5257800"/>
            <a:ext cx="10414000" cy="965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总体方向：构建'设计—回收—再生—应用'的全链条闭环体系，</a:t>
            </a:r>
          </a:p>
          <a:p>
            <a:pPr algn="ctr">
              <a:lnSpc>
                <a:spcPct val="13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推动废旧轮胎从'环境负担'转变为'循环经济与双碳战略下的城市矿产'。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9398000" cy="66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3C8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1066800"/>
            <a:ext cx="1905000" cy="508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0" y="6413500"/>
            <a:ext cx="889000" cy="30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" y="1524000"/>
            <a:ext cx="1397000" cy="812800"/>
          </a:xfrm>
          <a:prstGeom prst="round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现状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2500" y="1524000"/>
            <a:ext cx="9398000" cy="812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6500" y="1524000"/>
            <a:ext cx="8890000" cy="812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废旧轮胎量大、难降解、污染重，但资源属性突出，是亟待开发的'城市矿产'。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000" y="2590800"/>
            <a:ext cx="1397000" cy="812800"/>
          </a:xfrm>
          <a:prstGeom prst="round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2500" y="2590800"/>
            <a:ext cx="9398000" cy="812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6500" y="2590800"/>
            <a:ext cx="8890000" cy="812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翻新、胶粉、热解、再生胶四大途径各有优劣，应构建梯级利用体系。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3657600"/>
            <a:ext cx="1397000" cy="812800"/>
          </a:xfrm>
          <a:prstGeom prst="roundRect">
            <a:avLst/>
          </a:prstGeom>
          <a:solidFill>
            <a:srgbClr val="188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效益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2500" y="3657600"/>
            <a:ext cx="9398000" cy="812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6500" y="3657600"/>
            <a:ext cx="8890000" cy="812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资源化兼具显著的环境、经济与社会效益，契合循环经济与双碳目标。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4724400"/>
            <a:ext cx="1397000" cy="81280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展望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2500" y="4724400"/>
            <a:ext cx="9398000" cy="812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6500" y="4724400"/>
            <a:ext cx="8890000" cy="812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向高值化、清洁化、智能化、低碳化发展，实现全链条闭环循环。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6451600"/>
            <a:ext cx="6350000" cy="279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废旧轮胎的回收与资源化利用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4800"/>
            <a:ext cx="12192000" cy="2032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22500"/>
            <a:ext cx="12192000" cy="1397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0" y="3873500"/>
            <a:ext cx="2540000" cy="63500"/>
          </a:xfrm>
          <a:prstGeom prst="rect">
            <a:avLst/>
          </a:prstGeom>
          <a:solidFill>
            <a:srgbClr val="E67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D9B8"/>
                </a:solidFill>
                <a:latin typeface="微软雅黑"/>
                <a:ea typeface="微软雅黑"/>
              </a:rPr>
              <a:t>敬请各位老师批评指正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61000"/>
            <a:ext cx="12192000" cy="381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DDE4F0"/>
                </a:solidFill>
                <a:latin typeface="微软雅黑"/>
                <a:ea typeface="微软雅黑"/>
              </a:rPr>
              <a:t>废旧轮胎的回收与资源化利用　|　环境工程专业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